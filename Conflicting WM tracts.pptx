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Helvetica Neue"/>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22" Type="http://schemas.openxmlformats.org/officeDocument/2006/relationships/font" Target="fonts/HelveticaNeue-italic.fntdata"/><Relationship Id="rId21" Type="http://schemas.openxmlformats.org/officeDocument/2006/relationships/font" Target="fonts/HelveticaNeue-bold.fntdata"/><Relationship Id="rId23"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86017c44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86017c44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a230dd60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a230dd60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a230dd60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a230dd60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a230dd60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a230dd60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86017c44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86017c44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86017c44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86017c44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86017c44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86017c44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a230dd6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a230dd6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a230dd60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a230dd60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a230dd60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a230dd60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a230dd60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a230dd60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6017c44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6017c44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a230dd60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a230dd60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0" Type="http://schemas.openxmlformats.org/officeDocument/2006/relationships/hyperlink" Target="https://dmri.mgh.harvard.edu/tract-atlas/" TargetMode="External"/><Relationship Id="rId22" Type="http://schemas.openxmlformats.org/officeDocument/2006/relationships/hyperlink" Target="https://dmri.slicer.org/atlases/" TargetMode="External"/><Relationship Id="rId21" Type="http://schemas.openxmlformats.org/officeDocument/2006/relationships/hyperlink" Target="https://dmri.slicer.org/atlases/" TargetMode="External"/><Relationship Id="rId24" Type="http://schemas.openxmlformats.org/officeDocument/2006/relationships/hyperlink" Target="https://dmri.slicer.org/atlases/" TargetMode="External"/><Relationship Id="rId23" Type="http://schemas.openxmlformats.org/officeDocument/2006/relationships/hyperlink" Target="https://pmc.ncbi.nlm.nih.gov/articles/PMC6080311/"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pmc.ncbi.nlm.nih.gov/articles/PMC2478641/" TargetMode="External"/><Relationship Id="rId4" Type="http://schemas.openxmlformats.org/officeDocument/2006/relationships/hyperlink" Target="https://pmc.ncbi.nlm.nih.gov/articles/PMC2478641/" TargetMode="External"/><Relationship Id="rId9" Type="http://schemas.openxmlformats.org/officeDocument/2006/relationships/hyperlink" Target="https://cds.ismrm.org/protected/10MProceedings/PDFfiles/274_1055.pdf" TargetMode="External"/><Relationship Id="rId26" Type="http://schemas.openxmlformats.org/officeDocument/2006/relationships/hyperlink" Target="https://github.com/SlicerDMRI/ORG-Atlases" TargetMode="External"/><Relationship Id="rId25" Type="http://schemas.openxmlformats.org/officeDocument/2006/relationships/hyperlink" Target="https://dmri.slicer.org/atlases/" TargetMode="External"/><Relationship Id="rId28" Type="http://schemas.openxmlformats.org/officeDocument/2006/relationships/hyperlink" Target="https://pmc.ncbi.nlm.nih.gov/articles/PMC8124084/" TargetMode="External"/><Relationship Id="rId27" Type="http://schemas.openxmlformats.org/officeDocument/2006/relationships/hyperlink" Target="https://github.com/SlicerDMRI/ORG-Atlases" TargetMode="External"/><Relationship Id="rId5" Type="http://schemas.openxmlformats.org/officeDocument/2006/relationships/hyperlink" Target="https://pmc.ncbi.nlm.nih.gov/articles/PMC2910162/" TargetMode="External"/><Relationship Id="rId6" Type="http://schemas.openxmlformats.org/officeDocument/2006/relationships/hyperlink" Target="https://pmc.ncbi.nlm.nih.gov/articles/PMC2478641/" TargetMode="External"/><Relationship Id="rId29" Type="http://schemas.openxmlformats.org/officeDocument/2006/relationships/hyperlink" Target="https://pmc.ncbi.nlm.nih.gov/articles/PMC11083905/" TargetMode="External"/><Relationship Id="rId7" Type="http://schemas.openxmlformats.org/officeDocument/2006/relationships/hyperlink" Target="https://pmc.ncbi.nlm.nih.gov/articles/PMC2478641/" TargetMode="External"/><Relationship Id="rId8" Type="http://schemas.openxmlformats.org/officeDocument/2006/relationships/hyperlink" Target="https://cds.ismrm.org/protected/10MProceedings/PDFfiles/274_1055.pdf" TargetMode="External"/><Relationship Id="rId31" Type="http://schemas.openxmlformats.org/officeDocument/2006/relationships/hyperlink" Target="https://pmc.ncbi.nlm.nih.gov/articles/PMC2910162/" TargetMode="External"/><Relationship Id="rId30" Type="http://schemas.openxmlformats.org/officeDocument/2006/relationships/hyperlink" Target="https://pmc.ncbi.nlm.nih.gov/articles/PMC11083905/" TargetMode="External"/><Relationship Id="rId11" Type="http://schemas.openxmlformats.org/officeDocument/2006/relationships/hyperlink" Target="https://www.biorxiv.org/content/10.1101/651935v2.full" TargetMode="External"/><Relationship Id="rId33" Type="http://schemas.openxmlformats.org/officeDocument/2006/relationships/hyperlink" Target="https://pmc.ncbi.nlm.nih.gov/articles/PMC2910162/" TargetMode="External"/><Relationship Id="rId10" Type="http://schemas.openxmlformats.org/officeDocument/2006/relationships/hyperlink" Target="https://www.biorxiv.org/content/10.1101/651935v2.full" TargetMode="External"/><Relationship Id="rId32" Type="http://schemas.openxmlformats.org/officeDocument/2006/relationships/hyperlink" Target="https://pmc.ncbi.nlm.nih.gov/articles/PMC2910162/" TargetMode="External"/><Relationship Id="rId13" Type="http://schemas.openxmlformats.org/officeDocument/2006/relationships/hyperlink" Target="https://pmc.ncbi.nlm.nih.gov/articles/PMC8963953/" TargetMode="External"/><Relationship Id="rId12" Type="http://schemas.openxmlformats.org/officeDocument/2006/relationships/hyperlink" Target="https://pmc.ncbi.nlm.nih.gov/articles/PMC8963953/" TargetMode="External"/><Relationship Id="rId15" Type="http://schemas.openxmlformats.org/officeDocument/2006/relationships/hyperlink" Target="https://dmri.mgh.harvard.edu/tract-atlas/" TargetMode="External"/><Relationship Id="rId14" Type="http://schemas.openxmlformats.org/officeDocument/2006/relationships/hyperlink" Target="https://dmri.mgh.harvard.edu/tract-atlas/" TargetMode="External"/><Relationship Id="rId17" Type="http://schemas.openxmlformats.org/officeDocument/2006/relationships/hyperlink" Target="https://github.com/HOA-2/SubcorticalParcellations" TargetMode="External"/><Relationship Id="rId16" Type="http://schemas.openxmlformats.org/officeDocument/2006/relationships/hyperlink" Target="https://dmri.mgh.harvard.edu/tract-atlas/" TargetMode="External"/><Relationship Id="rId19" Type="http://schemas.openxmlformats.org/officeDocument/2006/relationships/hyperlink" Target="https://dmri.mgh.harvard.edu/tract-atlas/" TargetMode="External"/><Relationship Id="rId18" Type="http://schemas.openxmlformats.org/officeDocument/2006/relationships/hyperlink" Target="https://github.com/HOA-2/SubcorticalParcellation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Conflicting WM tracts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Atlases</a:t>
            </a:r>
            <a:endParaRPr/>
          </a:p>
        </p:txBody>
      </p:sp>
      <p:sp>
        <p:nvSpPr>
          <p:cNvPr id="61" name="Google Shape;61;p1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lang="en" sz="1500">
                <a:solidFill>
                  <a:schemeClr val="dk1"/>
                </a:solidFill>
              </a:rPr>
              <a:t>Widely Used White Matter Atlases</a:t>
            </a:r>
            <a:endParaRPr sz="1500">
              <a:solidFill>
                <a:schemeClr val="dk1"/>
              </a:solidFill>
            </a:endParaRPr>
          </a:p>
          <a:p>
            <a:pPr indent="-304800" lvl="0" marL="457200" rtl="0" algn="l">
              <a:spcBef>
                <a:spcPts val="900"/>
              </a:spcBef>
              <a:spcAft>
                <a:spcPts val="0"/>
              </a:spcAft>
              <a:buClr>
                <a:schemeClr val="dk1"/>
              </a:buClr>
              <a:buSzPts val="1200"/>
              <a:buChar char="●"/>
            </a:pPr>
            <a:r>
              <a:rPr b="1" lang="en" sz="1200" u="sng">
                <a:solidFill>
                  <a:schemeClr val="dk1"/>
                </a:solidFill>
              </a:rPr>
              <a:t>JHU DTI-based White Matter Atlases</a:t>
            </a:r>
            <a:r>
              <a:rPr lang="en" sz="1200">
                <a:solidFill>
                  <a:schemeClr val="dk1"/>
                </a:solidFill>
              </a:rPr>
              <a:t>: Developed at Johns Hopkins University, these include the</a:t>
            </a:r>
            <a:r>
              <a:rPr lang="en" sz="1200">
                <a:solidFill>
                  <a:schemeClr val="dk1"/>
                </a:solidFill>
                <a:uFill>
                  <a:noFill/>
                </a:uFill>
                <a:hlinkClick r:id="rId3">
                  <a:extLst>
                    <a:ext uri="{A12FA001-AC4F-418D-AE19-62706E023703}">
                      <ahyp:hlinkClr val="tx"/>
                    </a:ext>
                  </a:extLst>
                </a:hlinkClick>
              </a:rPr>
              <a:t> </a:t>
            </a:r>
            <a:r>
              <a:rPr lang="en" sz="1200" u="sng">
                <a:solidFill>
                  <a:schemeClr val="hlink"/>
                </a:solidFill>
                <a:hlinkClick r:id="rId4"/>
              </a:rPr>
              <a:t>ICBM-DTI-81</a:t>
            </a:r>
            <a:r>
              <a:rPr lang="en" sz="1200">
                <a:solidFill>
                  <a:schemeClr val="dk1"/>
                </a:solidFill>
              </a:rPr>
              <a:t> white matter labels and the JHU White Matter Tractography Atlas. They parcel the brain into deep white matter structures using standard ICBM-152 stereotaxic space. [</a:t>
            </a:r>
            <a:r>
              <a:rPr lang="en" sz="1200" u="sng">
                <a:solidFill>
                  <a:schemeClr val="hlink"/>
                </a:solidFill>
                <a:hlinkClick r:id="rId5"/>
              </a:rPr>
              <a:t>1</a:t>
            </a:r>
            <a:r>
              <a:rPr lang="en" sz="1200">
                <a:solidFill>
                  <a:schemeClr val="dk1"/>
                </a:solidFill>
              </a:rPr>
              <a:t>,</a:t>
            </a:r>
            <a:r>
              <a:rPr lang="en" sz="1200">
                <a:solidFill>
                  <a:schemeClr val="dk1"/>
                </a:solidFill>
                <a:uFill>
                  <a:noFill/>
                </a:uFill>
                <a:hlinkClick r:id="rId6">
                  <a:extLst>
                    <a:ext uri="{A12FA001-AC4F-418D-AE19-62706E023703}">
                      <ahyp:hlinkClr val="tx"/>
                    </a:ext>
                  </a:extLst>
                </a:hlinkClick>
              </a:rPr>
              <a:t> </a:t>
            </a:r>
            <a:r>
              <a:rPr lang="en" sz="1200" u="sng">
                <a:solidFill>
                  <a:schemeClr val="hlink"/>
                </a:solidFill>
                <a:hlinkClick r:id="rId7"/>
              </a:rPr>
              <a:t>2</a:t>
            </a:r>
            <a:r>
              <a:rPr lang="en" sz="1200">
                <a:solidFill>
                  <a:schemeClr val="dk1"/>
                </a:solidFill>
              </a:rPr>
              <a:t>,</a:t>
            </a:r>
            <a:r>
              <a:rPr lang="en" sz="1200">
                <a:solidFill>
                  <a:schemeClr val="dk1"/>
                </a:solidFill>
                <a:uFill>
                  <a:noFill/>
                </a:uFill>
                <a:hlinkClick r:id="rId8">
                  <a:extLst>
                    <a:ext uri="{A12FA001-AC4F-418D-AE19-62706E023703}">
                      <ahyp:hlinkClr val="tx"/>
                    </a:ext>
                  </a:extLst>
                </a:hlinkClick>
              </a:rPr>
              <a:t> </a:t>
            </a:r>
            <a:r>
              <a:rPr lang="en" sz="1200" u="sng">
                <a:solidFill>
                  <a:schemeClr val="hlink"/>
                </a:solidFill>
                <a:hlinkClick r:id="rId9"/>
              </a:rPr>
              <a:t>3</a:t>
            </a:r>
            <a:r>
              <a:rPr lang="en" sz="1200">
                <a:solidFill>
                  <a:schemeClr val="dk1"/>
                </a:solidFill>
              </a:rPr>
              <a:t>,</a:t>
            </a:r>
            <a:r>
              <a:rPr lang="en" sz="1200">
                <a:solidFill>
                  <a:schemeClr val="dk1"/>
                </a:solidFill>
                <a:uFill>
                  <a:noFill/>
                </a:uFill>
                <a:hlinkClick r:id="rId10">
                  <a:extLst>
                    <a:ext uri="{A12FA001-AC4F-418D-AE19-62706E023703}">
                      <ahyp:hlinkClr val="tx"/>
                    </a:ext>
                  </a:extLst>
                </a:hlinkClick>
              </a:rPr>
              <a:t> </a:t>
            </a:r>
            <a:r>
              <a:rPr lang="en" sz="1200" u="sng">
                <a:solidFill>
                  <a:schemeClr val="hlink"/>
                </a:solidFill>
                <a:hlinkClick r:id="rId11"/>
              </a:rPr>
              <a:t>4</a:t>
            </a:r>
            <a:r>
              <a:rPr lang="en" sz="1200">
                <a:solidFill>
                  <a:schemeClr val="dk1"/>
                </a:solidFill>
              </a:rPr>
              <a:t>,</a:t>
            </a:r>
            <a:r>
              <a:rPr lang="en" sz="1200">
                <a:solidFill>
                  <a:schemeClr val="dk1"/>
                </a:solidFill>
                <a:uFill>
                  <a:noFill/>
                </a:uFill>
                <a:hlinkClick r:id="rId12">
                  <a:extLst>
                    <a:ext uri="{A12FA001-AC4F-418D-AE19-62706E023703}">
                      <ahyp:hlinkClr val="tx"/>
                    </a:ext>
                  </a:extLst>
                </a:hlinkClick>
              </a:rPr>
              <a:t> </a:t>
            </a:r>
            <a:r>
              <a:rPr lang="en" sz="1200" u="sng">
                <a:solidFill>
                  <a:schemeClr val="hlink"/>
                </a:solidFill>
                <a:hlinkClick r:id="rId13"/>
              </a:rPr>
              <a:t>5</a:t>
            </a:r>
            <a:r>
              <a:rPr lang="en" sz="1200">
                <a:solidFill>
                  <a:schemeClr val="dk1"/>
                </a:solidFill>
              </a:rPr>
              <a:t>]</a:t>
            </a:r>
            <a:endParaRPr sz="1200">
              <a:solidFill>
                <a:schemeClr val="dk1"/>
              </a:solidFill>
            </a:endParaRPr>
          </a:p>
          <a:p>
            <a:pPr indent="-304800" lvl="0" marL="457200" rtl="0" algn="l">
              <a:spcBef>
                <a:spcPts val="0"/>
              </a:spcBef>
              <a:spcAft>
                <a:spcPts val="0"/>
              </a:spcAft>
              <a:buClr>
                <a:schemeClr val="dk1"/>
              </a:buClr>
              <a:buSzPts val="1200"/>
              <a:buChar char="●"/>
            </a:pPr>
            <a:r>
              <a:rPr b="1" lang="en" sz="1200" u="sng">
                <a:solidFill>
                  <a:schemeClr val="dk1"/>
                </a:solidFill>
              </a:rPr>
              <a:t>Harvard-Oxford (MGH) White Matter Tract Atlas</a:t>
            </a:r>
            <a:r>
              <a:rPr lang="en" sz="1200">
                <a:solidFill>
                  <a:schemeClr val="dk1"/>
                </a:solidFill>
              </a:rPr>
              <a:t>: Created using high-quality data from the Human Connectome Project (HCP) via the</a:t>
            </a:r>
            <a:r>
              <a:rPr lang="en" sz="1200">
                <a:solidFill>
                  <a:schemeClr val="dk1"/>
                </a:solidFill>
                <a:uFill>
                  <a:noFill/>
                </a:uFill>
                <a:hlinkClick r:id="rId14">
                  <a:extLst>
                    <a:ext uri="{A12FA001-AC4F-418D-AE19-62706E023703}">
                      <ahyp:hlinkClr val="tx"/>
                    </a:ext>
                  </a:extLst>
                </a:hlinkClick>
              </a:rPr>
              <a:t> </a:t>
            </a:r>
            <a:r>
              <a:rPr lang="en" sz="1200" u="sng">
                <a:solidFill>
                  <a:schemeClr val="hlink"/>
                </a:solidFill>
                <a:hlinkClick r:id="rId15"/>
              </a:rPr>
              <a:t>MGH Connectom scanner</a:t>
            </a:r>
            <a:r>
              <a:rPr lang="en" sz="1200">
                <a:solidFill>
                  <a:schemeClr val="dk1"/>
                </a:solidFill>
              </a:rPr>
              <a:t>, featuring manually annotated long-range association, projection, and commissural pathways. [</a:t>
            </a:r>
            <a:r>
              <a:rPr lang="en" sz="1200" u="sng">
                <a:solidFill>
                  <a:schemeClr val="hlink"/>
                </a:solidFill>
                <a:hlinkClick r:id="rId16"/>
              </a:rPr>
              <a:t>1</a:t>
            </a:r>
            <a:r>
              <a:rPr lang="en" sz="1200">
                <a:solidFill>
                  <a:schemeClr val="dk1"/>
                </a:solidFill>
              </a:rPr>
              <a:t>,</a:t>
            </a:r>
            <a:r>
              <a:rPr lang="en" sz="1200">
                <a:solidFill>
                  <a:schemeClr val="dk1"/>
                </a:solidFill>
                <a:uFill>
                  <a:noFill/>
                </a:uFill>
                <a:hlinkClick r:id="rId17">
                  <a:extLst>
                    <a:ext uri="{A12FA001-AC4F-418D-AE19-62706E023703}">
                      <ahyp:hlinkClr val="tx"/>
                    </a:ext>
                  </a:extLst>
                </a:hlinkClick>
              </a:rPr>
              <a:t> </a:t>
            </a:r>
            <a:r>
              <a:rPr lang="en" sz="1200" u="sng">
                <a:solidFill>
                  <a:schemeClr val="hlink"/>
                </a:solidFill>
                <a:hlinkClick r:id="rId18"/>
              </a:rPr>
              <a:t>2</a:t>
            </a:r>
            <a:r>
              <a:rPr lang="en" sz="1200">
                <a:solidFill>
                  <a:schemeClr val="dk1"/>
                </a:solidFill>
              </a:rPr>
              <a:t>,</a:t>
            </a:r>
            <a:r>
              <a:rPr lang="en" sz="1200">
                <a:solidFill>
                  <a:schemeClr val="dk1"/>
                </a:solidFill>
                <a:uFill>
                  <a:noFill/>
                </a:uFill>
                <a:hlinkClick r:id="rId19">
                  <a:extLst>
                    <a:ext uri="{A12FA001-AC4F-418D-AE19-62706E023703}">
                      <ahyp:hlinkClr val="tx"/>
                    </a:ext>
                  </a:extLst>
                </a:hlinkClick>
              </a:rPr>
              <a:t> </a:t>
            </a:r>
            <a:r>
              <a:rPr lang="en" sz="1200" u="sng">
                <a:solidFill>
                  <a:schemeClr val="hlink"/>
                </a:solidFill>
                <a:hlinkClick r:id="rId20"/>
              </a:rPr>
              <a:t>3</a:t>
            </a:r>
            <a:r>
              <a:rPr lang="en" sz="1200">
                <a:solidFill>
                  <a:schemeClr val="dk1"/>
                </a:solidFill>
              </a:rPr>
              <a:t>]</a:t>
            </a:r>
            <a:endParaRPr sz="1200">
              <a:solidFill>
                <a:schemeClr val="dk1"/>
              </a:solidFill>
            </a:endParaRPr>
          </a:p>
          <a:p>
            <a:pPr indent="-304800" lvl="0" marL="457200" rtl="0" algn="l">
              <a:spcBef>
                <a:spcPts val="0"/>
              </a:spcBef>
              <a:spcAft>
                <a:spcPts val="0"/>
              </a:spcAft>
              <a:buClr>
                <a:schemeClr val="dk1"/>
              </a:buClr>
              <a:buSzPts val="1200"/>
              <a:buChar char="●"/>
            </a:pPr>
            <a:r>
              <a:rPr b="1" lang="en" sz="1200" u="sng">
                <a:solidFill>
                  <a:schemeClr val="dk1"/>
                </a:solidFill>
              </a:rPr>
              <a:t>O'Donnell Research Group (ORG) Fiber Clustering Atlas</a:t>
            </a:r>
            <a:r>
              <a:rPr lang="en" sz="1200">
                <a:solidFill>
                  <a:schemeClr val="dk1"/>
                </a:solidFill>
              </a:rPr>
              <a:t>: An anatomically curated parcellation framework available via</a:t>
            </a:r>
            <a:r>
              <a:rPr lang="en" sz="1200">
                <a:solidFill>
                  <a:schemeClr val="dk1"/>
                </a:solidFill>
                <a:uFill>
                  <a:noFill/>
                </a:uFill>
                <a:hlinkClick r:id="rId21">
                  <a:extLst>
                    <a:ext uri="{A12FA001-AC4F-418D-AE19-62706E023703}">
                      <ahyp:hlinkClr val="tx"/>
                    </a:ext>
                  </a:extLst>
                </a:hlinkClick>
              </a:rPr>
              <a:t> </a:t>
            </a:r>
            <a:r>
              <a:rPr lang="en" sz="1200" u="sng">
                <a:solidFill>
                  <a:schemeClr val="hlink"/>
                </a:solidFill>
                <a:hlinkClick r:id="rId22"/>
              </a:rPr>
              <a:t>SlicerDMRI</a:t>
            </a:r>
            <a:r>
              <a:rPr lang="en" sz="1200">
                <a:solidFill>
                  <a:schemeClr val="dk1"/>
                </a:solidFill>
              </a:rPr>
              <a:t>. It segment the whole brain into 256 distinct structures, including 58 deep white matter tracts and 198 short-to-medium range superficial fiber clusters. [</a:t>
            </a:r>
            <a:r>
              <a:rPr lang="en" sz="1200" u="sng">
                <a:solidFill>
                  <a:schemeClr val="hlink"/>
                </a:solidFill>
                <a:hlinkClick r:id="rId23"/>
              </a:rPr>
              <a:t>1</a:t>
            </a:r>
            <a:r>
              <a:rPr lang="en" sz="1200">
                <a:solidFill>
                  <a:schemeClr val="dk1"/>
                </a:solidFill>
              </a:rPr>
              <a:t>,</a:t>
            </a:r>
            <a:r>
              <a:rPr lang="en" sz="1200">
                <a:solidFill>
                  <a:schemeClr val="dk1"/>
                </a:solidFill>
                <a:uFill>
                  <a:noFill/>
                </a:uFill>
                <a:hlinkClick r:id="rId24">
                  <a:extLst>
                    <a:ext uri="{A12FA001-AC4F-418D-AE19-62706E023703}">
                      <ahyp:hlinkClr val="tx"/>
                    </a:ext>
                  </a:extLst>
                </a:hlinkClick>
              </a:rPr>
              <a:t> </a:t>
            </a:r>
            <a:r>
              <a:rPr lang="en" sz="1200" u="sng">
                <a:solidFill>
                  <a:schemeClr val="hlink"/>
                </a:solidFill>
                <a:hlinkClick r:id="rId25"/>
              </a:rPr>
              <a:t>2</a:t>
            </a:r>
            <a:r>
              <a:rPr lang="en" sz="1200">
                <a:solidFill>
                  <a:schemeClr val="dk1"/>
                </a:solidFill>
              </a:rPr>
              <a:t>,</a:t>
            </a:r>
            <a:r>
              <a:rPr lang="en" sz="1200">
                <a:solidFill>
                  <a:schemeClr val="dk1"/>
                </a:solidFill>
                <a:uFill>
                  <a:noFill/>
                </a:uFill>
                <a:hlinkClick r:id="rId26">
                  <a:extLst>
                    <a:ext uri="{A12FA001-AC4F-418D-AE19-62706E023703}">
                      <ahyp:hlinkClr val="tx"/>
                    </a:ext>
                  </a:extLst>
                </a:hlinkClick>
              </a:rPr>
              <a:t> </a:t>
            </a:r>
            <a:r>
              <a:rPr lang="en" sz="1200" u="sng">
                <a:solidFill>
                  <a:schemeClr val="hlink"/>
                </a:solidFill>
                <a:hlinkClick r:id="rId27"/>
              </a:rPr>
              <a:t>3</a:t>
            </a:r>
            <a:r>
              <a:rPr lang="en" sz="1200">
                <a:solidFill>
                  <a:schemeClr val="dk1"/>
                </a:solidFill>
              </a:rPr>
              <a:t>]</a:t>
            </a:r>
            <a:endParaRPr sz="1200">
              <a:solidFill>
                <a:schemeClr val="dk1"/>
              </a:solidFill>
            </a:endParaRPr>
          </a:p>
          <a:p>
            <a:pPr indent="-304800" lvl="0" marL="457200" rtl="0" algn="l">
              <a:spcBef>
                <a:spcPts val="0"/>
              </a:spcBef>
              <a:spcAft>
                <a:spcPts val="0"/>
              </a:spcAft>
              <a:buClr>
                <a:schemeClr val="dk1"/>
              </a:buClr>
              <a:buSzPts val="1200"/>
              <a:buChar char="●"/>
            </a:pPr>
            <a:r>
              <a:rPr b="1" lang="en" sz="1200" u="sng">
                <a:solidFill>
                  <a:schemeClr val="dk1"/>
                </a:solidFill>
              </a:rPr>
              <a:t>Pandora 4-D Atlases:</a:t>
            </a:r>
            <a:r>
              <a:rPr lang="en" sz="1200">
                <a:solidFill>
                  <a:schemeClr val="dk1"/>
                </a:solidFill>
              </a:rPr>
              <a:t> A massive population-based library compiled from 2,443 subjects. It captures 216 overlapping white matter bundles across different life stages, addressing the limitation of older, single-subject templates. [</a:t>
            </a:r>
            <a:r>
              <a:rPr lang="en" sz="1200" u="sng">
                <a:solidFill>
                  <a:schemeClr val="hlink"/>
                </a:solidFill>
                <a:hlinkClick r:id="rId28"/>
              </a:rPr>
              <a:t>1</a:t>
            </a:r>
            <a:r>
              <a:rPr lang="en" sz="1200">
                <a:solidFill>
                  <a:schemeClr val="dk1"/>
                </a:solidFill>
              </a:rPr>
              <a:t>,</a:t>
            </a:r>
            <a:r>
              <a:rPr lang="en" sz="1200">
                <a:solidFill>
                  <a:schemeClr val="dk1"/>
                </a:solidFill>
                <a:uFill>
                  <a:noFill/>
                </a:uFill>
                <a:hlinkClick r:id="rId29">
                  <a:extLst>
                    <a:ext uri="{A12FA001-AC4F-418D-AE19-62706E023703}">
                      <ahyp:hlinkClr val="tx"/>
                    </a:ext>
                  </a:extLst>
                </a:hlinkClick>
              </a:rPr>
              <a:t> </a:t>
            </a:r>
            <a:r>
              <a:rPr lang="en" sz="1200" u="sng">
                <a:solidFill>
                  <a:schemeClr val="hlink"/>
                </a:solidFill>
                <a:hlinkClick r:id="rId30"/>
              </a:rPr>
              <a:t>2</a:t>
            </a:r>
            <a:r>
              <a:rPr lang="en" sz="1200">
                <a:solidFill>
                  <a:schemeClr val="dk1"/>
                </a:solidFill>
              </a:rPr>
              <a:t>]</a:t>
            </a:r>
            <a:endParaRPr sz="1200">
              <a:solidFill>
                <a:schemeClr val="dk1"/>
              </a:solidFill>
            </a:endParaRPr>
          </a:p>
          <a:p>
            <a:pPr indent="-304800" lvl="0" marL="457200" rtl="0" algn="l">
              <a:spcBef>
                <a:spcPts val="0"/>
              </a:spcBef>
              <a:spcAft>
                <a:spcPts val="0"/>
              </a:spcAft>
              <a:buClr>
                <a:schemeClr val="dk1"/>
              </a:buClr>
              <a:buSzPts val="1200"/>
              <a:buChar char="●"/>
            </a:pPr>
            <a:r>
              <a:rPr b="1" lang="en" sz="1200" u="sng">
                <a:solidFill>
                  <a:schemeClr val="dk1"/>
                </a:solidFill>
              </a:rPr>
              <a:t>Eve Atlas</a:t>
            </a:r>
            <a:r>
              <a:rPr lang="en" sz="1200">
                <a:solidFill>
                  <a:schemeClr val="dk1"/>
                </a:solidFill>
              </a:rPr>
              <a:t>: A comprehensive single-subject T1, T2, and DTI-segmented template. It is widely used to map out</a:t>
            </a:r>
            <a:r>
              <a:rPr lang="en" sz="1200">
                <a:solidFill>
                  <a:schemeClr val="dk1"/>
                </a:solidFill>
                <a:uFill>
                  <a:noFill/>
                </a:uFill>
                <a:hlinkClick r:id="rId31">
                  <a:extLst>
                    <a:ext uri="{A12FA001-AC4F-418D-AE19-62706E023703}">
                      <ahyp:hlinkClr val="tx"/>
                    </a:ext>
                  </a:extLst>
                </a:hlinkClick>
              </a:rPr>
              <a:t> </a:t>
            </a:r>
            <a:r>
              <a:rPr lang="en" sz="1200" u="sng">
                <a:solidFill>
                  <a:schemeClr val="hlink"/>
                </a:solidFill>
                <a:hlinkClick r:id="rId32"/>
              </a:rPr>
              <a:t>56 deep and 52 superficial</a:t>
            </a:r>
            <a:r>
              <a:rPr lang="en" sz="1200">
                <a:solidFill>
                  <a:schemeClr val="dk1"/>
                </a:solidFill>
              </a:rPr>
              <a:t> white matter regions alongside gray matter coordinates. [</a:t>
            </a:r>
            <a:r>
              <a:rPr lang="en" sz="1200" u="sng">
                <a:solidFill>
                  <a:schemeClr val="hlink"/>
                </a:solidFill>
                <a:hlinkClick r:id="rId33"/>
              </a:rPr>
              <a:t>1</a:t>
            </a:r>
            <a:r>
              <a:rPr lang="en" sz="1200">
                <a:solidFill>
                  <a:schemeClr val="dk1"/>
                </a:solidFill>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Xtract</a:t>
            </a:r>
            <a:endParaRPr/>
          </a:p>
        </p:txBody>
      </p:sp>
      <p:sp>
        <p:nvSpPr>
          <p:cNvPr id="67" name="Google Shape;67;p1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900"/>
              </a:spcBef>
              <a:spcAft>
                <a:spcPts val="0"/>
              </a:spcAft>
              <a:buNone/>
            </a:pPr>
            <a:r>
              <a:t/>
            </a:r>
            <a:endParaRPr/>
          </a:p>
          <a:p>
            <a:pPr indent="0" lvl="0" marL="0" rtl="0" algn="l">
              <a:spcBef>
                <a:spcPts val="2100"/>
              </a:spcBef>
              <a:spcAft>
                <a:spcPts val="0"/>
              </a:spcAft>
              <a:buNone/>
            </a:pPr>
            <a:r>
              <a:rPr lang="en" sz="1050">
                <a:solidFill>
                  <a:srgbClr val="0B0B0B"/>
                </a:solidFill>
                <a:highlight>
                  <a:srgbClr val="FFFFFF"/>
                </a:highlight>
                <a:latin typeface="Georgia"/>
                <a:ea typeface="Georgia"/>
                <a:cs typeface="Georgia"/>
                <a:sym typeface="Georgia"/>
              </a:rPr>
              <a:t>XTRACT segments the Superior Thalamic Radiation (STR) as a distinct tract separate from the anterior thalamic radiation. Your table already has an STR row (TractSeg source). Should XTRACT also be added as a source for STR, and should it also be added to the anterior thalamic radiation row?</a:t>
            </a:r>
            <a:endParaRPr sz="1050">
              <a:solidFill>
                <a:srgbClr val="0B0B0B"/>
              </a:solidFill>
              <a:highlight>
                <a:srgbClr val="FFFFFF"/>
              </a:highlight>
              <a:latin typeface="Georgia"/>
              <a:ea typeface="Georgia"/>
              <a:cs typeface="Georgia"/>
              <a:sym typeface="Georgia"/>
            </a:endParaRPr>
          </a:p>
          <a:p>
            <a:pPr indent="0" lvl="0" marL="0" rtl="0" algn="l">
              <a:spcBef>
                <a:spcPts val="2100"/>
              </a:spcBef>
              <a:spcAft>
                <a:spcPts val="0"/>
              </a:spcAft>
              <a:buNone/>
            </a:pPr>
            <a:r>
              <a:rPr lang="en" sz="1050">
                <a:solidFill>
                  <a:srgbClr val="0B0B0B"/>
                </a:solidFill>
                <a:highlight>
                  <a:srgbClr val="FFFFFF"/>
                </a:highlight>
                <a:latin typeface="Georgia"/>
                <a:ea typeface="Georgia"/>
                <a:cs typeface="Georgia"/>
                <a:sym typeface="Georgia"/>
              </a:rPr>
              <a:t>XTRACT is a cross-species tool covering human and macaque. Your UBERON IDs are valid for both species. Should the cross-species scope be noted anywhere in your table for XTRACT-sourced rows</a:t>
            </a:r>
            <a:endParaRPr sz="1050">
              <a:solidFill>
                <a:srgbClr val="0B0B0B"/>
              </a:solidFill>
              <a:highlight>
                <a:srgbClr val="FFFFFF"/>
              </a:highlight>
              <a:latin typeface="Georgia"/>
              <a:ea typeface="Georgia"/>
              <a:cs typeface="Georgia"/>
              <a:sym typeface="Georgia"/>
            </a:endParaRPr>
          </a:p>
          <a:p>
            <a:pPr indent="0" lvl="0" marL="0" rtl="0" algn="l">
              <a:spcBef>
                <a:spcPts val="2100"/>
              </a:spcBef>
              <a:spcAft>
                <a:spcPts val="21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Organization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Create conflicting tracts slideshow for Sarah</a:t>
            </a:r>
            <a:endParaRPr/>
          </a:p>
          <a:p>
            <a:pPr indent="-342900" lvl="0" marL="457200" rtl="0" algn="l">
              <a:spcBef>
                <a:spcPts val="0"/>
              </a:spcBef>
              <a:spcAft>
                <a:spcPts val="0"/>
              </a:spcAft>
              <a:buSzPts val="1800"/>
              <a:buChar char="-"/>
            </a:pPr>
            <a:r>
              <a:rPr lang="en"/>
              <a:t>Organization of WM by area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Dice Coefficient / percent overlap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Notes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merge column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All atlases …</a:t>
            </a:r>
            <a:endParaRPr/>
          </a:p>
          <a:p>
            <a:pPr indent="-342900" lvl="0" marL="457200" rtl="0" algn="l">
              <a:spcBef>
                <a:spcPts val="0"/>
              </a:spcBef>
              <a:spcAft>
                <a:spcPts val="0"/>
              </a:spcAft>
              <a:buSzPts val="1800"/>
              <a:buChar char="-"/>
            </a:pPr>
            <a:r>
              <a:t/>
            </a:r>
            <a:endParaRPr/>
          </a:p>
          <a:p>
            <a:pPr indent="-342900" lvl="0" marL="457200" rtl="0" algn="l">
              <a:spcBef>
                <a:spcPts val="0"/>
              </a:spcBef>
              <a:spcAft>
                <a:spcPts val="0"/>
              </a:spcAft>
              <a:buSzPts val="1800"/>
              <a:buChar char="-"/>
            </a:pPr>
            <a:r>
              <a:rPr lang="en"/>
              <a:t>Notes on CC and SLF</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Franco’s paper 21–</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SLF 1</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SLF vs </a:t>
            </a:r>
            <a:endParaRPr/>
          </a:p>
          <a:p>
            <a:pPr indent="0" lvl="0" marL="0" rtl="0" algn="l">
              <a:spcBef>
                <a:spcPts val="1200"/>
              </a:spcBef>
              <a:spcAft>
                <a:spcPts val="1200"/>
              </a:spcAft>
              <a:buNone/>
            </a:pPr>
            <a:r>
              <a:rPr lang="en"/>
              <a:t>Atlases - 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medial lemniscus </a:t>
            </a:r>
            <a:r>
              <a:rPr lang="en"/>
              <a:t>and  cingulum</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SLF vs </a:t>
            </a:r>
            <a:endParaRPr/>
          </a:p>
          <a:p>
            <a:pPr indent="0" lvl="0" marL="0" rtl="0" algn="l">
              <a:spcBef>
                <a:spcPts val="1200"/>
              </a:spcBef>
              <a:spcAft>
                <a:spcPts val="1200"/>
              </a:spcAft>
              <a:buNone/>
            </a:pPr>
            <a:r>
              <a:rPr lang="en"/>
              <a:t>Atlases - 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400">
                <a:solidFill>
                  <a:srgbClr val="1B1B1B"/>
                </a:solidFill>
                <a:highlight>
                  <a:srgbClr val="FFFFFF"/>
                </a:highlight>
                <a:latin typeface="Helvetica Neue"/>
                <a:ea typeface="Helvetica Neue"/>
                <a:cs typeface="Helvetica Neue"/>
                <a:sym typeface="Helvetica Neue"/>
              </a:rPr>
              <a:t>Corticospinal tracts (CST)</a:t>
            </a:r>
            <a:endParaRPr sz="1400">
              <a:solidFill>
                <a:srgbClr val="1B1B1B"/>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400">
              <a:solidFill>
                <a:srgbClr val="1B1B1B"/>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400">
              <a:solidFill>
                <a:srgbClr val="1B1B1B"/>
              </a:solidFill>
              <a:highlight>
                <a:srgbClr val="FFFFFF"/>
              </a:highlight>
              <a:latin typeface="Helvetica Neue"/>
              <a:ea typeface="Helvetica Neue"/>
              <a:cs typeface="Helvetica Neue"/>
              <a:sym typeface="Helvetica Neue"/>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400" u="sng">
                <a:solidFill>
                  <a:srgbClr val="1B1B1B"/>
                </a:solidFill>
                <a:highlight>
                  <a:srgbClr val="FFFFFF"/>
                </a:highlight>
                <a:latin typeface="Helvetica Neue"/>
                <a:ea typeface="Helvetica Neue"/>
                <a:cs typeface="Helvetica Neue"/>
                <a:sym typeface="Helvetica Neue"/>
              </a:rPr>
              <a:t>JHU</a:t>
            </a:r>
            <a:endParaRPr sz="1400">
              <a:solidFill>
                <a:srgbClr val="1B1B1B"/>
              </a:solidFill>
              <a:highlight>
                <a:srgbClr val="FFFFFF"/>
              </a:highlight>
              <a:latin typeface="Helvetica Neue"/>
              <a:ea typeface="Helvetica Neue"/>
              <a:cs typeface="Helvetica Neue"/>
              <a:sym typeface="Helvetica Neue"/>
            </a:endParaRPr>
          </a:p>
          <a:p>
            <a:pPr indent="-317500" lvl="0" marL="457200" rtl="0" algn="l">
              <a:lnSpc>
                <a:spcPct val="100000"/>
              </a:lnSpc>
              <a:spcBef>
                <a:spcPts val="0"/>
              </a:spcBef>
              <a:spcAft>
                <a:spcPts val="0"/>
              </a:spcAft>
              <a:buClr>
                <a:srgbClr val="1B1B1B"/>
              </a:buClr>
              <a:buSzPts val="1400"/>
              <a:buFont typeface="Helvetica Neue"/>
              <a:buChar char="-"/>
            </a:pPr>
            <a:r>
              <a:rPr lang="en" sz="1400">
                <a:solidFill>
                  <a:srgbClr val="1B1B1B"/>
                </a:solidFill>
                <a:highlight>
                  <a:srgbClr val="FFFFFF"/>
                </a:highlight>
                <a:latin typeface="Helvetica Neue"/>
                <a:ea typeface="Helvetica Neue"/>
                <a:cs typeface="Helvetica Neue"/>
                <a:sym typeface="Helvetica Neue"/>
              </a:rPr>
              <a:t>This structure can be clearly identified at the medulla and the pons level, but should also contain corticopontine and corticobulbar tracts.</a:t>
            </a:r>
            <a:endParaRPr sz="1400">
              <a:solidFill>
                <a:srgbClr val="1B1B1B"/>
              </a:solidFill>
              <a:highlight>
                <a:srgbClr val="FFFFFF"/>
              </a:highlight>
              <a:latin typeface="Helvetica Neue"/>
              <a:ea typeface="Helvetica Neue"/>
              <a:cs typeface="Helvetica Neue"/>
              <a:sym typeface="Helvetica Neue"/>
            </a:endParaRPr>
          </a:p>
          <a:p>
            <a:pPr indent="-317500" lvl="0" marL="457200" rtl="0" algn="l">
              <a:lnSpc>
                <a:spcPct val="100000"/>
              </a:lnSpc>
              <a:spcBef>
                <a:spcPts val="0"/>
              </a:spcBef>
              <a:spcAft>
                <a:spcPts val="0"/>
              </a:spcAft>
              <a:buClr>
                <a:srgbClr val="1B1B1B"/>
              </a:buClr>
              <a:buSzPts val="1400"/>
              <a:buFont typeface="Helvetica Neue"/>
              <a:buChar char="-"/>
            </a:pPr>
            <a:r>
              <a:rPr lang="en" sz="1400">
                <a:solidFill>
                  <a:srgbClr val="1B1B1B"/>
                </a:solidFill>
                <a:highlight>
                  <a:srgbClr val="FFFFFF"/>
                </a:highlight>
                <a:latin typeface="Helvetica Neue"/>
                <a:ea typeface="Helvetica Neue"/>
                <a:cs typeface="Helvetica Neue"/>
                <a:sym typeface="Helvetica Neue"/>
              </a:rPr>
              <a:t>CST</a:t>
            </a:r>
            <a:endParaRPr sz="1400">
              <a:solidFill>
                <a:srgbClr val="1B1B1B"/>
              </a:solidFill>
              <a:highlight>
                <a:srgbClr val="FFFFFF"/>
              </a:highlight>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 sz="1400">
                <a:solidFill>
                  <a:srgbClr val="1B1B1B"/>
                </a:solidFill>
                <a:highlight>
                  <a:srgbClr val="FFFFFF"/>
                </a:highlight>
                <a:latin typeface="Helvetica Neue"/>
                <a:ea typeface="Helvetica Neue"/>
                <a:cs typeface="Helvetica Neue"/>
                <a:sym typeface="Helvetica Neue"/>
              </a:rPr>
              <a:t>AFQ</a:t>
            </a:r>
            <a:endParaRPr sz="1400">
              <a:solidFill>
                <a:srgbClr val="1B1B1B"/>
              </a:solidFill>
              <a:highlight>
                <a:srgbClr val="FFFFFF"/>
              </a:highlight>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sz="1400">
              <a:solidFill>
                <a:srgbClr val="1B1B1B"/>
              </a:solidFill>
              <a:highlight>
                <a:srgbClr val="FFFFFF"/>
              </a:highlight>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 sz="1400">
                <a:solidFill>
                  <a:srgbClr val="1B1B1B"/>
                </a:solidFill>
                <a:highlight>
                  <a:srgbClr val="FFFFFF"/>
                </a:highlight>
                <a:latin typeface="Helvetica Neue"/>
                <a:ea typeface="Helvetica Neue"/>
                <a:cs typeface="Helvetica Neue"/>
                <a:sym typeface="Helvetica Neue"/>
              </a:rPr>
              <a:t>DSI Studio</a:t>
            </a:r>
            <a:endParaRPr sz="1400">
              <a:solidFill>
                <a:srgbClr val="1B1B1B"/>
              </a:solidFill>
              <a:highlight>
                <a:srgbClr val="FFFFFF"/>
              </a:highlight>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sz="1400">
              <a:solidFill>
                <a:srgbClr val="1B1B1B"/>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1B1B1B"/>
                </a:solidFill>
                <a:highlight>
                  <a:srgbClr val="FFFFFF"/>
                </a:highlight>
              </a:rPr>
              <a:t>Central Tegmental tract and Medial </a:t>
            </a:r>
            <a:r>
              <a:rPr lang="en" sz="2500">
                <a:solidFill>
                  <a:srgbClr val="1B1B1B"/>
                </a:solidFill>
                <a:highlight>
                  <a:srgbClr val="FFFFFF"/>
                </a:highlight>
              </a:rPr>
              <a:t>Lemniscus</a:t>
            </a:r>
            <a:endParaRPr sz="2500">
              <a:solidFill>
                <a:srgbClr val="1B1B1B"/>
              </a:solidFill>
              <a:highlight>
                <a:srgbClr val="FFFFFF"/>
              </a:highlight>
            </a:endParaRPr>
          </a:p>
          <a:p>
            <a:pPr indent="0" lvl="0" marL="0" rtl="0" algn="l">
              <a:spcBef>
                <a:spcPts val="0"/>
              </a:spcBef>
              <a:spcAft>
                <a:spcPts val="0"/>
              </a:spcAft>
              <a:buNone/>
            </a:pPr>
            <a:r>
              <a:t/>
            </a:r>
            <a:endParaRPr sz="2500">
              <a:solidFill>
                <a:srgbClr val="1B1B1B"/>
              </a:solidFill>
              <a:highlight>
                <a:srgbClr val="FFFFFF"/>
              </a:highlight>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400" u="sng">
                <a:solidFill>
                  <a:srgbClr val="1B1B1B"/>
                </a:solidFill>
                <a:highlight>
                  <a:srgbClr val="FFFFFF"/>
                </a:highlight>
                <a:latin typeface="Helvetica Neue"/>
                <a:ea typeface="Helvetica Neue"/>
                <a:cs typeface="Helvetica Neue"/>
                <a:sym typeface="Helvetica Neue"/>
              </a:rPr>
              <a:t>JHU</a:t>
            </a:r>
            <a:endParaRPr sz="1400">
              <a:solidFill>
                <a:srgbClr val="1B1B1B"/>
              </a:solidFill>
              <a:highlight>
                <a:srgbClr val="FFFFFF"/>
              </a:highlight>
              <a:latin typeface="Helvetica Neue"/>
              <a:ea typeface="Helvetica Neue"/>
              <a:cs typeface="Helvetica Neue"/>
              <a:sym typeface="Helvetica Neue"/>
            </a:endParaRPr>
          </a:p>
          <a:p>
            <a:pPr indent="0" lvl="0" marL="0" rtl="0" algn="l">
              <a:spcBef>
                <a:spcPts val="1200"/>
              </a:spcBef>
              <a:spcAft>
                <a:spcPts val="0"/>
              </a:spcAft>
              <a:buClr>
                <a:schemeClr val="dk1"/>
              </a:buClr>
              <a:buSzPts val="1100"/>
              <a:buFont typeface="Arial"/>
              <a:buNone/>
            </a:pPr>
            <a:r>
              <a:rPr b="1" lang="en" sz="1100">
                <a:solidFill>
                  <a:schemeClr val="dk1"/>
                </a:solidFill>
              </a:rPr>
              <a:t>Medial lemniscus (ML)</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Second-order sensory pathway conveying discriminative touch, vibration, and proprioception from the contralateral body to the thalamus. Originates from the gracile and cuneate nuclei of the caudal medulla, where first-order dorsal column fibers synapse; axons decussate as internal arcuate fibers and ascend as a compact, flattened ribbon through the medullary and pontine tegmentum. In the pons the ML is reliably identifiable as a discrete structure running dorsal to the pontine nuclei; in the midbrain it fans out laterally and merges with spinothalamic and trigeminothalamic fibers, making it indistinguishable at standard DTI resolution. Terminates in the ventral posterolateral (VPL) nucleus of the thalamus. At the level of the pons, the ML runs immediately adjacent to the central tegmental tract, and due to their shared rostrocaudal orientation and proximity in the tegmental corridor, DTI-based parcellations of the ML may include central tegmental tract streamlines, particularly in the mid-to-upper pons and midbrain.</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Central tegmental tract (CTT)</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Composite brainstem pathway running through the central core of the tegmentum from the midbrain to the medulla. Carries descending fibers from the red nucleus and midbrain reticular formation to the inferior olivary nucleus (rubro-olivary projection), and ascending fibers from the brainstem reticular formation to the ventral anterior and ventral lateral thalamic nuclei. Courses longitudinally through the midbrain and pontine tegmentum, lying dorsomedial to the medial lemniscus throughout its pontine extent. Involved in motor coordination via the cerebello-rubro-olivary loop, and implicated in the pathophysiology of palatal tremor when disrupted. Terminates in the inferior olive inferiorly and the thalamus superiorly.</a:t>
            </a:r>
            <a:endParaRPr sz="1100">
              <a:solidFill>
                <a:schemeClr val="dk1"/>
              </a:solidFill>
            </a:endParaRPr>
          </a:p>
          <a:p>
            <a:pPr indent="0" lvl="0" marL="0" rtl="0" algn="l">
              <a:lnSpc>
                <a:spcPct val="100000"/>
              </a:lnSpc>
              <a:spcBef>
                <a:spcPts val="1200"/>
              </a:spcBef>
              <a:spcAft>
                <a:spcPts val="0"/>
              </a:spcAft>
              <a:buNone/>
            </a:pPr>
            <a:r>
              <a:t/>
            </a:r>
            <a:endParaRPr sz="1400">
              <a:solidFill>
                <a:srgbClr val="1B1B1B"/>
              </a:solidFill>
              <a:highlight>
                <a:srgbClr val="FFFFFF"/>
              </a:highlight>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sz="1400">
              <a:solidFill>
                <a:srgbClr val="1B1B1B"/>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CC - corpus callosum</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two completely different subdivision schemes</a:t>
            </a:r>
            <a:r>
              <a:rPr lang="en" sz="1100">
                <a:solidFill>
                  <a:schemeClr val="dk1"/>
                </a:solidFill>
              </a:rPr>
              <a:t> across rows – –  </a:t>
            </a:r>
            <a:r>
              <a:rPr b="1" lang="en" sz="1100" u="sng">
                <a:solidFill>
                  <a:schemeClr val="dk1"/>
                </a:solidFill>
              </a:rPr>
              <a:t>don't map 1:1 to each other.</a:t>
            </a:r>
            <a:endParaRPr b="1" sz="1100" u="sng">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CC</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TractSEG </a:t>
            </a:r>
            <a:endParaRPr/>
          </a:p>
          <a:p>
            <a:pPr indent="-342900" lvl="0" marL="457200" rtl="0" algn="l">
              <a:spcBef>
                <a:spcPts val="1200"/>
              </a:spcBef>
              <a:spcAft>
                <a:spcPts val="0"/>
              </a:spcAft>
              <a:buSzPts val="1800"/>
              <a:buChar char="-"/>
            </a:pPr>
            <a:r>
              <a:rPr lang="en"/>
              <a:t>Make sure corpus callosum precedes the tract</a:t>
            </a:r>
            <a:endParaRPr/>
          </a:p>
          <a:p>
            <a:pPr indent="-342900" lvl="0" marL="457200" rtl="0" algn="l">
              <a:spcBef>
                <a:spcPts val="0"/>
              </a:spcBef>
              <a:spcAft>
                <a:spcPts val="0"/>
              </a:spcAft>
              <a:buSzPts val="1800"/>
              <a:buChar char="-"/>
            </a:pPr>
            <a:r>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 / CA</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t>UBERON:0003039, UBERON:0003043</a:t>
            </a:r>
            <a:endParaRPr/>
          </a:p>
          <a:p>
            <a:pPr indent="-342900" lvl="0" marL="457200" rtl="0" algn="l">
              <a:spcBef>
                <a:spcPts val="0"/>
              </a:spcBef>
              <a:spcAft>
                <a:spcPts val="0"/>
              </a:spcAft>
              <a:buSzPts val="1800"/>
              <a:buChar char="-"/>
            </a:pPr>
            <a:r>
              <a:rPr lang="en"/>
              <a:t>Anterior and posterior portions</a:t>
            </a:r>
            <a:endParaRPr/>
          </a:p>
          <a:p>
            <a:pPr indent="-342900" lvl="0" marL="457200" rtl="0" algn="l">
              <a:spcBef>
                <a:spcPts val="0"/>
              </a:spcBef>
              <a:spcAft>
                <a:spcPts val="0"/>
              </a:spcAft>
              <a:buSzPts val="1800"/>
              <a:buChar char="-"/>
            </a:pPr>
            <a:r>
              <a:rPr lang="en"/>
              <a:t>The anterior commissure connects the amygdala and temporal pole via anterior fibers, and mainly the inferior temporo-occipital cortex via posterior fibers — its fibers cross the midline as a compact bundle but divide into two components as they enter the temporal lobe. </a:t>
            </a:r>
            <a:endParaRPr/>
          </a:p>
          <a:p>
            <a:pPr indent="0" lvl="0" marL="0" rtl="0" algn="l">
              <a:spcBef>
                <a:spcPts val="1200"/>
              </a:spcBef>
              <a:spcAft>
                <a:spcPts val="0"/>
              </a:spcAft>
              <a:buNone/>
            </a:pPr>
            <a:r>
              <a:rPr lang="en" sz="1100">
                <a:solidFill>
                  <a:schemeClr val="dk1"/>
                </a:solidFill>
              </a:rPr>
              <a:t>smaller anterior part (</a:t>
            </a:r>
            <a:r>
              <a:rPr i="1" lang="en" sz="1100">
                <a:solidFill>
                  <a:schemeClr val="dk1"/>
                </a:solidFill>
              </a:rPr>
              <a:t>pars anterior commissurae anterioris</a:t>
            </a:r>
            <a:r>
              <a:rPr lang="en" sz="1100">
                <a:solidFill>
                  <a:schemeClr val="dk1"/>
                </a:solidFill>
              </a:rPr>
              <a:t>) </a:t>
            </a:r>
            <a:endParaRPr sz="1100">
              <a:solidFill>
                <a:schemeClr val="dk1"/>
              </a:solidFill>
            </a:endParaRPr>
          </a:p>
          <a:p>
            <a:pPr indent="0" lvl="0" marL="0" rtl="0" algn="l">
              <a:spcBef>
                <a:spcPts val="1200"/>
              </a:spcBef>
              <a:spcAft>
                <a:spcPts val="1200"/>
              </a:spcAft>
              <a:buNone/>
            </a:pPr>
            <a:r>
              <a:rPr lang="en" sz="1100">
                <a:solidFill>
                  <a:schemeClr val="dk1"/>
                </a:solidFill>
              </a:rPr>
              <a:t>larger posterior part (</a:t>
            </a:r>
            <a:r>
              <a:rPr i="1" lang="en" sz="1100">
                <a:solidFill>
                  <a:schemeClr val="dk1"/>
                </a:solidFill>
              </a:rPr>
              <a:t>pars posterior commissurae anterioris</a:t>
            </a:r>
            <a:r>
              <a:rPr lang="en" sz="1100">
                <a:solidFill>
                  <a:schemeClr val="dk1"/>
                </a:solidFill>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